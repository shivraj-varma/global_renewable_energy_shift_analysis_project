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Renewables Share (%)</c:v>
                </c:pt>
              </c:strCache>
            </c:strRef>
          </c:tx>
          <c:spPr>
            <a:solidFill>
              <a:srgbClr val="1A8A4A"/>
            </a:solidFill>
            <a:ln w="44450" cap="flat">
              <a:solidFill>
                <a:srgbClr val="1A8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8A4A"/>
              </a:solidFill>
              <a:ln w="9525" cap="flat">
                <a:solidFill>
                  <a:srgbClr val="1A8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20.1</c:v>
                </c:pt>
                <c:pt idx="1">
                  <c:v>20.4</c:v>
                </c:pt>
                <c:pt idx="2">
                  <c:v>20.8</c:v>
                </c:pt>
                <c:pt idx="3">
                  <c:v>21.3</c:v>
                </c:pt>
                <c:pt idx="4">
                  <c:v>21.9</c:v>
                </c:pt>
                <c:pt idx="5">
                  <c:v>22.7</c:v>
                </c:pt>
                <c:pt idx="6">
                  <c:v>23.5</c:v>
                </c:pt>
                <c:pt idx="7">
                  <c:v>24.6</c:v>
                </c:pt>
                <c:pt idx="8">
                  <c:v>26.2</c:v>
                </c:pt>
                <c:pt idx="9">
                  <c:v>27.9</c:v>
                </c:pt>
                <c:pt idx="10">
                  <c:v>30.4</c:v>
                </c:pt>
                <c:pt idx="11">
                  <c:v>33.8</c:v>
                </c:pt>
                <c:pt idx="12">
                  <c:v>37.5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1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Fossil Share (%)</c:v>
                </c:pt>
              </c:strCache>
            </c:strRef>
          </c:tx>
          <c:spPr>
            <a:solidFill>
              <a:srgbClr val="E8601C"/>
            </a:solidFill>
            <a:ln w="44450" cap="flat">
              <a:solidFill>
                <a:srgbClr val="E860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01C"/>
              </a:solidFill>
              <a:ln w="9525" cap="flat">
                <a:solidFill>
                  <a:srgbClr val="E86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65.3</c:v>
                </c:pt>
                <c:pt idx="1">
                  <c:v>65.1</c:v>
                </c:pt>
                <c:pt idx="2">
                  <c:v>64.8</c:v>
                </c:pt>
                <c:pt idx="3">
                  <c:v>64.4</c:v>
                </c:pt>
                <c:pt idx="4">
                  <c:v>63.7</c:v>
                </c:pt>
                <c:pt idx="5">
                  <c:v>62.9</c:v>
                </c:pt>
                <c:pt idx="6">
                  <c:v>61.8</c:v>
                </c:pt>
                <c:pt idx="7">
                  <c:v>60.5</c:v>
                </c:pt>
                <c:pt idx="8">
                  <c:v>58.9</c:v>
                </c:pt>
                <c:pt idx="9">
                  <c:v>57.2</c:v>
                </c:pt>
                <c:pt idx="10">
                  <c:v>55</c:v>
                </c:pt>
                <c:pt idx="11">
                  <c:v>52.1</c:v>
                </c:pt>
                <c:pt idx="12">
                  <c:v>48.4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4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☀️ Solar</c:v>
                </c:pt>
              </c:strCache>
            </c:strRef>
          </c:tx>
          <c:spPr>
            <a:solidFill>
              <a:srgbClr val="F5A623"/>
            </a:solidFill>
            <a:ln w="3556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2003</c:v>
                  </c:pt>
                  <c:pt idx="2">
                    <c:v>2006</c:v>
                  </c:pt>
                  <c:pt idx="3">
                    <c:v>2009</c:v>
                  </c:pt>
                  <c:pt idx="4">
                    <c:v>2012</c:v>
                  </c:pt>
                  <c:pt idx="5">
                    <c:v>2015</c:v>
                  </c:pt>
                  <c:pt idx="6">
                    <c:v>2018</c:v>
                  </c:pt>
                  <c:pt idx="7">
                    <c:v>2021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</c:v>
                </c:pt>
                <c:pt idx="1">
                  <c:v>0.04</c:v>
                </c:pt>
                <c:pt idx="2">
                  <c:v>0.08</c:v>
                </c:pt>
                <c:pt idx="3">
                  <c:v>0.25</c:v>
                </c:pt>
                <c:pt idx="4">
                  <c:v>0.8</c:v>
                </c:pt>
                <c:pt idx="5">
                  <c:v>1.8</c:v>
                </c:pt>
                <c:pt idx="6">
                  <c:v>3.5</c:v>
                </c:pt>
                <c:pt idx="7">
                  <c:v>5.2</c:v>
                </c:pt>
                <c:pt idx="8">
                  <c:v>8.5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💨 Wind</c:v>
                </c:pt>
              </c:strCache>
            </c:strRef>
          </c:tx>
          <c:spPr>
            <a:solidFill>
              <a:srgbClr val="0EA5E9"/>
            </a:solidFill>
            <a:ln w="3556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2003</c:v>
                  </c:pt>
                  <c:pt idx="2">
                    <c:v>2006</c:v>
                  </c:pt>
                  <c:pt idx="3">
                    <c:v>2009</c:v>
                  </c:pt>
                  <c:pt idx="4">
                    <c:v>2012</c:v>
                  </c:pt>
                  <c:pt idx="5">
                    <c:v>2015</c:v>
                  </c:pt>
                  <c:pt idx="6">
                    <c:v>2018</c:v>
                  </c:pt>
                  <c:pt idx="7">
                    <c:v>2021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0.28</c:v>
                </c:pt>
                <c:pt idx="1">
                  <c:v>0.5</c:v>
                </c:pt>
                <c:pt idx="2">
                  <c:v>0.9</c:v>
                </c:pt>
                <c:pt idx="3">
                  <c:v>1.5</c:v>
                </c:pt>
                <c:pt idx="4">
                  <c:v>2.6</c:v>
                </c:pt>
                <c:pt idx="5">
                  <c:v>4</c:v>
                </c:pt>
                <c:pt idx="6">
                  <c:v>6</c:v>
                </c:pt>
                <c:pt idx="7">
                  <c:v>7.8</c:v>
                </c:pt>
                <c:pt idx="8">
                  <c:v>10.2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💧 Hydro</c:v>
                </c:pt>
              </c:strCache>
            </c:strRef>
          </c:tx>
          <c:spPr>
            <a:solidFill>
              <a:srgbClr val="2E86AB"/>
            </a:solidFill>
            <a:ln w="3556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2003</c:v>
                  </c:pt>
                  <c:pt idx="2">
                    <c:v>2006</c:v>
                  </c:pt>
                  <c:pt idx="3">
                    <c:v>2009</c:v>
                  </c:pt>
                  <c:pt idx="4">
                    <c:v>2012</c:v>
                  </c:pt>
                  <c:pt idx="5">
                    <c:v>2015</c:v>
                  </c:pt>
                  <c:pt idx="6">
                    <c:v>2018</c:v>
                  </c:pt>
                  <c:pt idx="7">
                    <c:v>2021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17.2</c:v>
                </c:pt>
                <c:pt idx="1">
                  <c:v>17.1</c:v>
                </c:pt>
                <c:pt idx="2">
                  <c:v>17</c:v>
                </c:pt>
                <c:pt idx="3">
                  <c:v>16.8</c:v>
                </c:pt>
                <c:pt idx="4">
                  <c:v>16.5</c:v>
                </c:pt>
                <c:pt idx="5">
                  <c:v>16.1</c:v>
                </c:pt>
                <c:pt idx="6">
                  <c:v>16</c:v>
                </c:pt>
                <c:pt idx="7">
                  <c:v>15.9</c:v>
                </c:pt>
                <c:pt idx="8">
                  <c:v>15.8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⚛️ Nuclear</c:v>
                </c:pt>
              </c:strCache>
            </c:strRef>
          </c:tx>
          <c:spPr>
            <a:solidFill>
              <a:srgbClr val="9B59B6"/>
            </a:solidFill>
            <a:ln w="35560" cap="flat">
              <a:solidFill>
                <a:srgbClr val="9B59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59B6"/>
              </a:solidFill>
              <a:ln w="9525" cap="flat">
                <a:solidFill>
                  <a:srgbClr val="9B59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2003</c:v>
                  </c:pt>
                  <c:pt idx="2">
                    <c:v>2006</c:v>
                  </c:pt>
                  <c:pt idx="3">
                    <c:v>2009</c:v>
                  </c:pt>
                  <c:pt idx="4">
                    <c:v>2012</c:v>
                  </c:pt>
                  <c:pt idx="5">
                    <c:v>2015</c:v>
                  </c:pt>
                  <c:pt idx="6">
                    <c:v>2018</c:v>
                  </c:pt>
                  <c:pt idx="7">
                    <c:v>2021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7.1</c:v>
                </c:pt>
                <c:pt idx="1">
                  <c:v>7</c:v>
                </c:pt>
                <c:pt idx="2">
                  <c:v>6.8</c:v>
                </c:pt>
                <c:pt idx="3">
                  <c:v>6.5</c:v>
                </c:pt>
                <c:pt idx="4">
                  <c:v>6</c:v>
                </c:pt>
                <c:pt idx="5">
                  <c:v>5.7</c:v>
                </c:pt>
                <c:pt idx="6">
                  <c:v>5.6</c:v>
                </c:pt>
                <c:pt idx="7">
                  <c:v>5.5</c:v>
                </c:pt>
                <c:pt idx="8">
                  <c:v>5.4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Share %</c:v>
                </c:pt>
              </c:strCache>
            </c:strRef>
          </c:tx>
          <c:spPr>
            <a:solidFill>
              <a:srgbClr val="1A8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Norway</c:v>
                  </c:pt>
                  <c:pt idx="1">
                    <c:v>Iceland</c:v>
                  </c:pt>
                  <c:pt idx="2">
                    <c:v>Paraguay</c:v>
                  </c:pt>
                  <c:pt idx="3">
                    <c:v>Bhutan</c:v>
                  </c:pt>
                  <c:pt idx="4">
                    <c:v>Ethiopia</c:v>
                  </c:pt>
                  <c:pt idx="5">
                    <c:v>Brazil</c:v>
                  </c:pt>
                  <c:pt idx="6">
                    <c:v>New Zealand</c:v>
                  </c:pt>
                  <c:pt idx="7">
                    <c:v>Austria</c:v>
                  </c:pt>
                  <c:pt idx="8">
                    <c:v>Colombia</c:v>
                  </c:pt>
                  <c:pt idx="9">
                    <c:v>Canada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98.9</c:v>
                </c:pt>
                <c:pt idx="1">
                  <c:v>97.4</c:v>
                </c:pt>
                <c:pt idx="2">
                  <c:v>96.8</c:v>
                </c:pt>
                <c:pt idx="3">
                  <c:v>95.1</c:v>
                </c:pt>
                <c:pt idx="4">
                  <c:v>93.5</c:v>
                </c:pt>
                <c:pt idx="5">
                  <c:v>88.4</c:v>
                </c:pt>
                <c:pt idx="6">
                  <c:v>84.2</c:v>
                </c:pt>
                <c:pt idx="7">
                  <c:v>79.6</c:v>
                </c:pt>
                <c:pt idx="8">
                  <c:v>77.3</c:v>
                </c:pt>
                <c:pt idx="9">
                  <c:v>68.9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(pp)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Uruguay</c:v>
                  </c:pt>
                  <c:pt idx="1">
                    <c:v>Denmark</c:v>
                  </c:pt>
                  <c:pt idx="2">
                    <c:v>Lithuania</c:v>
                  </c:pt>
                  <c:pt idx="3">
                    <c:v>Jordan</c:v>
                  </c:pt>
                  <c:pt idx="4">
                    <c:v>Honduras</c:v>
                  </c:pt>
                  <c:pt idx="5">
                    <c:v>Portugal</c:v>
                  </c:pt>
                  <c:pt idx="6">
                    <c:v>Germany</c:v>
                  </c:pt>
                  <c:pt idx="7">
                    <c:v>Chile</c:v>
                  </c:pt>
                  <c:pt idx="8">
                    <c:v>Spain</c:v>
                  </c:pt>
                  <c:pt idx="9">
                    <c:v>Morocco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67.4</c:v>
                </c:pt>
                <c:pt idx="1">
                  <c:v>58.2</c:v>
                </c:pt>
                <c:pt idx="2">
                  <c:v>52.8</c:v>
                </c:pt>
                <c:pt idx="3">
                  <c:v>49.1</c:v>
                </c:pt>
                <c:pt idx="4">
                  <c:v>45.6</c:v>
                </c:pt>
                <c:pt idx="5">
                  <c:v>42.3</c:v>
                </c:pt>
                <c:pt idx="6">
                  <c:v>38.7</c:v>
                </c:pt>
                <c:pt idx="7">
                  <c:v>35.4</c:v>
                </c:pt>
                <c:pt idx="8">
                  <c:v>32.8</c:v>
                </c:pt>
                <c:pt idx="9">
                  <c:v>29.6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D5C2E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-731520"/>
            <a:ext cx="2194560" cy="2194560"/>
          </a:xfrm>
          <a:prstGeom prst="ellipse">
            <a:avLst/>
          </a:prstGeom>
          <a:solidFill>
            <a:srgbClr val="1A8A4A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474720"/>
            <a:ext cx="1645920" cy="1645920"/>
          </a:xfrm>
          <a:prstGeom prst="ellipse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365760" y="3474720"/>
            <a:ext cx="1371600" cy="1371600"/>
          </a:xfrm>
          <a:prstGeom prst="ellipse">
            <a:avLst/>
          </a:prstGeom>
          <a:solidFill>
            <a:srgbClr val="2AAC5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530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A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Renewable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Shift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5786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2000 – 2025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4114800" cy="36576"/>
          </a:xfrm>
          <a:prstGeom prst="rect">
            <a:avLst/>
          </a:prstGeom>
          <a:solidFill>
            <a:srgbClr val="2AAC5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309 countries across 8 energy sources using data from Our World in Data &amp; Ember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411480"/>
            <a:ext cx="2651760" cy="868680"/>
          </a:xfrm>
          <a:prstGeom prst="rect">
            <a:avLst/>
          </a:prstGeom>
          <a:solidFill>
            <a:srgbClr val="16345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46634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80760" y="886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0760" y="1490472"/>
            <a:ext cx="2651760" cy="868680"/>
          </a:xfrm>
          <a:prstGeom prst="rect">
            <a:avLst/>
          </a:prstGeom>
          <a:solidFill>
            <a:srgbClr val="0F2D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0760" y="15453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0807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80760" y="2569464"/>
            <a:ext cx="2651760" cy="868680"/>
          </a:xfrm>
          <a:prstGeom prst="rect">
            <a:avLst/>
          </a:prstGeom>
          <a:solidFill>
            <a:srgbClr val="16345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80760" y="2624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080760" y="3044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80760" y="3648456"/>
            <a:ext cx="2651760" cy="868680"/>
          </a:xfrm>
          <a:prstGeom prst="rect">
            <a:avLst/>
          </a:prstGeom>
          <a:solidFill>
            <a:srgbClr val="0F2D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080760" y="3703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~7,700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080760" y="4123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5C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1188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686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68680"/>
            <a:ext cx="2743200" cy="292608"/>
          </a:xfrm>
          <a:prstGeom prst="rect">
            <a:avLst/>
          </a:prstGeom>
          <a:solidFill>
            <a:srgbClr val="0D5C2E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2344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7830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21305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analysed and why it matters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163824" y="8686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63824" y="868680"/>
            <a:ext cx="2743200" cy="2926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3" name="Text 9"/>
          <p:cNvSpPr/>
          <p:nvPr/>
        </p:nvSpPr>
        <p:spPr>
          <a:xfrm>
            <a:off x="3163824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2344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73552" y="17830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Cleaning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73552" y="21305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countries, quality checks, removed gaps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71616" y="8686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71616" y="868680"/>
            <a:ext cx="2743200" cy="29260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9" name="Text 14"/>
          <p:cNvSpPr/>
          <p:nvPr/>
        </p:nvSpPr>
        <p:spPr>
          <a:xfrm>
            <a:off x="6071616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2344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1344" y="17830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Trends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181344" y="21305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clean electricity rise 2000→2025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56032" y="28620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56032" y="2862072"/>
            <a:ext cx="2743200" cy="292608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25" name="Text 19"/>
          <p:cNvSpPr/>
          <p:nvPr/>
        </p:nvSpPr>
        <p:spPr>
          <a:xfrm>
            <a:off x="256032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322783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" y="37764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Decline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5760" y="412394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coal &amp; gas share is shrinking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163824" y="28620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163824" y="2862072"/>
            <a:ext cx="2743200" cy="292608"/>
          </a:xfrm>
          <a:prstGeom prst="rect">
            <a:avLst/>
          </a:prstGeom>
          <a:solidFill>
            <a:srgbClr val="0D5C2E"/>
          </a:solidFill>
          <a:ln/>
        </p:spPr>
      </p:sp>
      <p:sp>
        <p:nvSpPr>
          <p:cNvPr id="31" name="Text 24"/>
          <p:cNvSpPr/>
          <p:nvPr/>
        </p:nvSpPr>
        <p:spPr>
          <a:xfrm>
            <a:off x="3163824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3227832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73552" y="37764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 Deep-Dive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273552" y="412394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wind, hydro &amp; nuclear compared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71616" y="28620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71616" y="2862072"/>
            <a:ext cx="2743200" cy="2926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7" name="Text 29"/>
          <p:cNvSpPr/>
          <p:nvPr/>
        </p:nvSpPr>
        <p:spPr>
          <a:xfrm>
            <a:off x="6071616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3227832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81344" y="37764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Leaders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181344" y="412394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leading and who grew the most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5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Analysis About?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167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notebook analyses how electricity generation changed across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countries and regions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and 2025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real-world data from Our World in Data and Ember.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Answered: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957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countries moving away from coal and gas?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1635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7980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are solar and wind energy growing?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3697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32186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lead the clean energy transition?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36393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global energy mix shifted in 25 years?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D6F0E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7" name="Text 11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28032" y="1207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693408" y="1207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28032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Pandas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693408" y="1691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828032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Matplotlib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693408" y="21762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and plot creation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828032" y="2660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Seaborn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693408" y="26609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visualisations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828032" y="3145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Our World in Data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693408" y="31455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source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828032" y="36301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Ember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693408" y="36301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statistics provider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1920240" cy="914400"/>
          </a:xfrm>
          <a:prstGeom prst="rect">
            <a:avLst/>
          </a:prstGeom>
          <a:solidFill>
            <a:srgbClr val="0D5C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50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Regions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32304" y="777240"/>
            <a:ext cx="1920240" cy="914400"/>
          </a:xfrm>
          <a:prstGeom prst="rect">
            <a:avLst/>
          </a:prstGeom>
          <a:solidFill>
            <a:srgbClr val="0F2D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2304" y="850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32304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777240"/>
            <a:ext cx="1920240" cy="914400"/>
          </a:xfrm>
          <a:prstGeom prst="rect">
            <a:avLst/>
          </a:prstGeom>
          <a:solidFill>
            <a:srgbClr val="1A8A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50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08576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4848" y="777240"/>
            <a:ext cx="1920240" cy="914400"/>
          </a:xfrm>
          <a:prstGeom prst="rect">
            <a:avLst/>
          </a:prstGeom>
          <a:solidFill>
            <a:srgbClr val="B85C0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850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84848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874520"/>
            <a:ext cx="27614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874520"/>
            <a:ext cx="2761488" cy="411480"/>
          </a:xfrm>
          <a:prstGeom prst="rect">
            <a:avLst/>
          </a:prstGeom>
          <a:solidFill>
            <a:srgbClr val="0D5C2E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187452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2359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" y="27889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column was stored as a decimal (float). It was converted to a whole number (integer) after filling empty cells with 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63824" y="1874520"/>
            <a:ext cx="27614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1874520"/>
            <a:ext cx="2761488" cy="4114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3163824" y="187452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359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Missing Values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27889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was checked for missing data. Solar &amp; wind columns had gaps for years before 2010 — expected, since those technologies barely existed then.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71616" y="1874520"/>
            <a:ext cx="276148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1874520"/>
            <a:ext cx="2761488" cy="411480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71616" y="187452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359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Unusable Columns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27889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 with too many missing values were removed: renewables_energy_per_capita, fossil_energy_per_capita, renewables_cons_change_twh.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5C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RENEWABLE ELECTRICITY SHARE  •  2000 – 2025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943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355080" y="777240"/>
            <a:ext cx="2514600" cy="4069080"/>
          </a:xfrm>
          <a:prstGeom prst="rect">
            <a:avLst/>
          </a:prstGeom>
          <a:solidFill>
            <a:srgbClr val="D6F0E2"/>
          </a:solidFill>
          <a:ln/>
        </p:spPr>
      </p:sp>
      <p:sp>
        <p:nvSpPr>
          <p:cNvPr id="7" name="Text 3"/>
          <p:cNvSpPr/>
          <p:nvPr/>
        </p:nvSpPr>
        <p:spPr>
          <a:xfrm>
            <a:off x="6446520" y="896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The Trend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46520" y="1371600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46520" y="14081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4652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share in 2000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46520" y="221284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4652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46520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share in 2025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46520" y="3054096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46520" y="3090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 pp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46520" y="34381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gain in 25 years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46520" y="3895344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4652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2015+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446520" y="4279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period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55080" y="4736592"/>
            <a:ext cx="2514600" cy="109728"/>
          </a:xfrm>
          <a:prstGeom prst="rect">
            <a:avLst/>
          </a:prstGeom>
          <a:solidFill>
            <a:srgbClr val="D6F0E2"/>
          </a:solidFill>
          <a:ln/>
        </p:spPr>
      </p:sp>
      <p:sp>
        <p:nvSpPr>
          <p:cNvPr id="21" name="Shape 17"/>
          <p:cNvSpPr/>
          <p:nvPr/>
        </p:nvSpPr>
        <p:spPr>
          <a:xfrm>
            <a:off x="6355080" y="4736592"/>
            <a:ext cx="54864" cy="10972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2" name="Text 18"/>
          <p:cNvSpPr/>
          <p:nvPr/>
        </p:nvSpPr>
        <p:spPr>
          <a:xfrm>
            <a:off x="6519672" y="4736592"/>
            <a:ext cx="2313432" cy="1097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2015, the curve steepened sharply — driven by mass deployment of solar &amp; wind in China, Europe, and Latin America.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A2A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ELECTRICITY SHARE  •  2000 – 2025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943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355080" y="777240"/>
            <a:ext cx="2514600" cy="4069080"/>
          </a:xfrm>
          <a:prstGeom prst="rect">
            <a:avLst/>
          </a:prstGeom>
          <a:solidFill>
            <a:srgbClr val="FDE9D3"/>
          </a:solidFill>
          <a:ln/>
        </p:spPr>
      </p:sp>
      <p:sp>
        <p:nvSpPr>
          <p:cNvPr id="7" name="Text 3"/>
          <p:cNvSpPr/>
          <p:nvPr/>
        </p:nvSpPr>
        <p:spPr>
          <a:xfrm>
            <a:off x="6446520" y="896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The Decline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46520" y="1371600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46520" y="14081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4652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share in 2000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46520" y="2212848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4652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46520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share in 2025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46520" y="3054096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46520" y="3090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−16.9 pp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46520" y="34381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fall in 25 years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46520" y="3895344"/>
            <a:ext cx="2331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4652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large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46520" y="4279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trend is clear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55080" y="4736592"/>
            <a:ext cx="2514600" cy="256032"/>
          </a:xfrm>
          <a:prstGeom prst="rect">
            <a:avLst/>
          </a:prstGeom>
          <a:solidFill>
            <a:srgbClr val="FDE9D3"/>
          </a:solidFill>
          <a:ln/>
        </p:spPr>
      </p:sp>
      <p:sp>
        <p:nvSpPr>
          <p:cNvPr id="21" name="Shape 17"/>
          <p:cNvSpPr/>
          <p:nvPr/>
        </p:nvSpPr>
        <p:spPr>
          <a:xfrm>
            <a:off x="6355080" y="4736592"/>
            <a:ext cx="54864" cy="25603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2" name="Text 18"/>
          <p:cNvSpPr/>
          <p:nvPr/>
        </p:nvSpPr>
        <p:spPr>
          <a:xfrm>
            <a:off x="6455664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fuels still dominate in many regions but the 25-year direction is unmistakable.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SOURCE DEEP-DIVE  •  2000 – 2025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56032" y="7772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777240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777240"/>
            <a:ext cx="73152" cy="89611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9601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48272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748272" y="1124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0% → 8.5%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48272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ever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80760" y="1801368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080760" y="1801368"/>
            <a:ext cx="73152" cy="89611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842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48272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Wind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748272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→ 10.2%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748272" y="2395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Tripled since 2010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080760" y="2825496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2825496"/>
            <a:ext cx="73152" cy="896112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00837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Hydro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748272" y="3172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→ ~16%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748272" y="3419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stable base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080760" y="3849624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80760" y="3849624"/>
            <a:ext cx="73152" cy="896112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032504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48272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Nuclear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748272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 → 5.4%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748272" y="4443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global decline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5C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— RENEWABLE SHARE IN 2025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777240"/>
            <a:ext cx="2834640" cy="4114800"/>
          </a:xfrm>
          <a:prstGeom prst="rect">
            <a:avLst/>
          </a:prstGeom>
          <a:solidFill>
            <a:srgbClr val="D6F0E2"/>
          </a:solidFill>
          <a:ln/>
        </p:spPr>
      </p:sp>
      <p:sp>
        <p:nvSpPr>
          <p:cNvPr id="7" name="Text 3"/>
          <p:cNvSpPr/>
          <p:nvPr/>
        </p:nvSpPr>
        <p:spPr>
          <a:xfrm>
            <a:off x="6199632" y="896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Insight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17920" y="1417320"/>
            <a:ext cx="201168" cy="201168"/>
          </a:xfrm>
          <a:prstGeom prst="ellipse">
            <a:avLst/>
          </a:prstGeom>
          <a:solidFill>
            <a:srgbClr val="1A8A4A"/>
          </a:solidFill>
          <a:ln/>
        </p:spPr>
      </p:sp>
      <p:sp>
        <p:nvSpPr>
          <p:cNvPr id="9" name="Text 5"/>
          <p:cNvSpPr/>
          <p:nvPr/>
        </p:nvSpPr>
        <p:spPr>
          <a:xfrm>
            <a:off x="6510528" y="137160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Hydro-rich nations dominate. Norway, Iceland &amp; Paraguay generate nearly all power from rivers.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17920" y="2203704"/>
            <a:ext cx="201168" cy="201168"/>
          </a:xfrm>
          <a:prstGeom prst="ellipse">
            <a:avLst/>
          </a:prstGeom>
          <a:solidFill>
            <a:srgbClr val="1A8A4A"/>
          </a:solidFill>
          <a:ln/>
        </p:spPr>
      </p:sp>
      <p:sp>
        <p:nvSpPr>
          <p:cNvPr id="11" name="Text 7"/>
          <p:cNvSpPr/>
          <p:nvPr/>
        </p:nvSpPr>
        <p:spPr>
          <a:xfrm>
            <a:off x="6510528" y="21579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countries lead because geography gives them natural clean energy advantages.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2990088"/>
            <a:ext cx="201168" cy="201168"/>
          </a:xfrm>
          <a:prstGeom prst="ellipse">
            <a:avLst/>
          </a:prstGeom>
          <a:solidFill>
            <a:srgbClr val="1A8A4A"/>
          </a:solidFill>
          <a:ln/>
        </p:spPr>
      </p:sp>
      <p:sp>
        <p:nvSpPr>
          <p:cNvPr id="13" name="Text 9"/>
          <p:cNvSpPr/>
          <p:nvPr/>
        </p:nvSpPr>
        <p:spPr>
          <a:xfrm>
            <a:off x="6510528" y="294436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economies face unique challenges — scale, reliability, and legacy infrastructure.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776472"/>
            <a:ext cx="201168" cy="201168"/>
          </a:xfrm>
          <a:prstGeom prst="ellipse">
            <a:avLst/>
          </a:prstGeom>
          <a:solidFill>
            <a:srgbClr val="1A8A4A"/>
          </a:solidFill>
          <a:ln/>
        </p:spPr>
      </p:sp>
      <p:sp>
        <p:nvSpPr>
          <p:cNvPr id="15" name="Text 11"/>
          <p:cNvSpPr/>
          <p:nvPr/>
        </p:nvSpPr>
        <p:spPr>
          <a:xfrm>
            <a:off x="6510528" y="373075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leaders &amp; large economies is slowly closing as solar &amp; wind scale up.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RENEWABLE GROWTH SINCE 2000  •  PERCENTAGE POINT CHANGE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777240"/>
            <a:ext cx="2834640" cy="4114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3"/>
          <p:cNvSpPr/>
          <p:nvPr/>
        </p:nvSpPr>
        <p:spPr>
          <a:xfrm>
            <a:off x="6199632" y="896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 Drove Growth?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199632" y="1371600"/>
            <a:ext cx="2651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09360" y="1408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Policy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0936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targets and carbon pricing created investment certainty.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99632" y="2212848"/>
            <a:ext cx="2651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09360" y="2249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Farms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09360" y="25054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&amp; Denmark built massive onshore wind capacity.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9632" y="3054096"/>
            <a:ext cx="2651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09360" y="3090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Expansion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309360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&amp; Chile used desert geography for large solar farms.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99632" y="3895344"/>
            <a:ext cx="2651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0936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Leapfrogging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nations skipped fossil infrastructure entirely.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1A8A4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1828800" cy="18288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384048" cy="1170432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83464" y="91440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98755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energy's share of global electricity rose from ~20% in 2000 to ~38% in 2025 — a clear, sustained upward trend.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384048" cy="1170432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91440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98755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is the biggest story: near-zero in 2000 and now a major global source. The fastest energy technology scale-up in history.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19456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194560"/>
            <a:ext cx="384048" cy="1170432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" y="219456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" y="226771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power tripled its share. Together, solar and wind are now the primary drivers of the renewable boom worldwide.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94560"/>
            <a:ext cx="384048" cy="1170432"/>
          </a:xfrm>
          <a:prstGeom prst="rect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19456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226771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fuels declined from ~65% to ~48% of global electricity — still large, but the direction is unmistakable and accelerating.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47472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74720"/>
            <a:ext cx="384048" cy="1170432"/>
          </a:xfrm>
          <a:prstGeom prst="rect">
            <a:avLst/>
          </a:prstGeom>
          <a:solidFill>
            <a:srgbClr val="2AAC5F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" y="347472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" y="354787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hydro-rich nations (Norway, Iceland, Paraguay) top the renewable leaderboard. Large economies are closing the gap.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474720"/>
            <a:ext cx="4224528" cy="1170432"/>
          </a:xfrm>
          <a:prstGeom prst="rect">
            <a:avLst/>
          </a:prstGeom>
          <a:solidFill>
            <a:srgbClr val="1A4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474720"/>
            <a:ext cx="384048" cy="1170432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90872" y="3474720"/>
            <a:ext cx="384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3547872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improvement happened after 2015 — when solar and wind prices fell below new coal plants for the first time.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5C2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-731520"/>
            <a:ext cx="1828800" cy="1828800"/>
          </a:xfrm>
          <a:prstGeom prst="ellipse">
            <a:avLst/>
          </a:prstGeom>
          <a:solidFill>
            <a:srgbClr val="1A8A4A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energy is renewable — and the data proves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35478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Data: Our World in Data &amp; Ember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3931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Tools: Python, Pandas, Matplotlib, Seaborn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28800" y="4315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Coverage: 309 Countries  •  2000–2025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Renewable Energy Shift 2000-2025</dc:title>
  <dc:subject>PptxGenJS Presentation</dc:subject>
  <dc:creator>Data Analysis Project</dc:creator>
  <cp:lastModifiedBy>Data Analysis Project</cp:lastModifiedBy>
  <cp:revision>1</cp:revision>
  <dcterms:created xsi:type="dcterms:W3CDTF">2026-05-28T09:59:49Z</dcterms:created>
  <dcterms:modified xsi:type="dcterms:W3CDTF">2026-05-28T09:59:49Z</dcterms:modified>
</cp:coreProperties>
</file>